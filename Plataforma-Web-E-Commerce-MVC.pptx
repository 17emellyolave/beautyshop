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Source Sans 3" panose="020B0604020202020204" charset="0"/>
      <p:regular r:id="rId21"/>
    </p:embeddedFont>
    <p:embeddedFont>
      <p:font typeface="Source Sans 3 Bold" panose="020B0604020202020204" charset="0"/>
      <p:regular r:id="rId22"/>
    </p:embeddedFont>
    <p:embeddedFont>
      <p:font typeface="Source Serif 4 SemiBold" panose="020B0604020202020204" charset="0"/>
      <p:regular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81792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svg"/><Relationship Id="rId4" Type="http://schemas.openxmlformats.org/officeDocument/2006/relationships/image" Target="../media/image29.sv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269971" y="1443930"/>
            <a:ext cx="6223638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74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BeautyShop Online</a:t>
            </a:r>
            <a:endParaRPr lang="en-US" sz="3650" dirty="0"/>
          </a:p>
        </p:txBody>
      </p:sp>
      <p:sp>
        <p:nvSpPr>
          <p:cNvPr id="4" name="Text 1"/>
          <p:cNvSpPr/>
          <p:nvPr/>
        </p:nvSpPr>
        <p:spPr>
          <a:xfrm>
            <a:off x="5269971" y="2329755"/>
            <a:ext cx="6223638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100" kern="0" spc="-102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Plataforma Web E-Commerce MVC</a:t>
            </a:r>
            <a:endParaRPr lang="en-US" sz="5100" dirty="0"/>
          </a:p>
        </p:txBody>
      </p:sp>
      <p:sp>
        <p:nvSpPr>
          <p:cNvPr id="5" name="Text 2"/>
          <p:cNvSpPr/>
          <p:nvPr/>
        </p:nvSpPr>
        <p:spPr>
          <a:xfrm>
            <a:off x="5269971" y="4248150"/>
            <a:ext cx="6223638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Sistema de comercio electrónico para el sector cosmético, cuidado personal y perfumería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269971" y="5110857"/>
            <a:ext cx="5410958" cy="303113"/>
          </a:xfrm>
          <a:prstGeom prst="roundRect">
            <a:avLst>
              <a:gd name="adj" fmla="val 22112"/>
            </a:avLst>
          </a:prstGeom>
          <a:solidFill>
            <a:srgbClr val="F4D4F7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9626" y="5182592"/>
            <a:ext cx="159540" cy="1595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28936" y="5170686"/>
            <a:ext cx="5541923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kern="0" spc="-3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WASHINGTON LEON NIETO ARCE — ARQUITECTO DE SOFTWARE &amp; FULL-STACK</a:t>
            </a:r>
            <a:endParaRPr lang="en-US" sz="125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1C6B2E30-670A-4513-85AA-E525703B4F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04259"/>
            <a:ext cx="4996997" cy="35065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66638"/>
            <a:ext cx="10795524" cy="44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kern="0" spc="-55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Problemática y Oportunidad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1301155"/>
            <a:ext cx="6889280" cy="3903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58633" y="2502098"/>
            <a:ext cx="3541227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8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El Problema del Sector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7958633" y="2834184"/>
            <a:ext cx="3541227" cy="8378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Creciente demanda de e-commerce en belleza y skincare, con plataformas tradicionales que presentan navegación compleja, lentitud, falta de inventario en tiempo real y fallas en seguimiento de envíos.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958633" y="3784104"/>
            <a:ext cx="3541227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8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Nuestra Solución</a:t>
            </a:r>
            <a:endParaRPr lang="en-US" sz="13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086" y="5457527"/>
            <a:ext cx="3523765" cy="83383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2852" y="5626100"/>
            <a:ext cx="311043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Arquitectura MVC pura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942852" y="5913338"/>
            <a:ext cx="3110430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Limpia, centralizada y ligera</a:t>
            </a:r>
            <a:endParaRPr lang="en-US" sz="11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33965" y="5457527"/>
            <a:ext cx="3523765" cy="83383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8732" y="5626100"/>
            <a:ext cx="311043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UX/UI optimizado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4578732" y="5913338"/>
            <a:ext cx="3110430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Diseño visual adaptado al nicho beauty</a:t>
            </a:r>
            <a:endParaRPr lang="en-US" sz="11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69844" y="5457527"/>
            <a:ext cx="3523765" cy="83383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214611" y="5626100"/>
            <a:ext cx="311043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Control estricto de stock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8214611" y="5913338"/>
            <a:ext cx="3110430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Pasarela simulada de pago segura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48580"/>
            <a:ext cx="1079552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kern="0" spc="-37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Arquitectura y Stack Tecnológico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972641"/>
            <a:ext cx="5276123" cy="527625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23836" y="3288308"/>
            <a:ext cx="5276123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kern="0" spc="-18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Patrón MVC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223836" y="3484761"/>
            <a:ext cx="5276123" cy="252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kern="0" spc="-16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Separación clara entre lógica de negocio, acceso a datos e interfaces de usuario. Enrutador dinámico </a:t>
            </a:r>
            <a:r>
              <a:rPr lang="en-US" sz="750" kern="0" spc="-16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Router.php</a:t>
            </a:r>
            <a:r>
              <a:rPr lang="en-US" sz="750" kern="0" spc="-16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con URLs amigables mediante </a:t>
            </a:r>
            <a:r>
              <a:rPr lang="en-US" sz="750" kern="0" spc="-16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.htaccess</a:t>
            </a:r>
            <a:r>
              <a:rPr lang="en-US" sz="750" kern="0" spc="-16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6223836" y="3786584"/>
            <a:ext cx="5276123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kern="0" spc="-18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Stack Completo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98086" y="6361013"/>
            <a:ext cx="3565237" cy="508298"/>
          </a:xfrm>
          <a:prstGeom prst="roundRect">
            <a:avLst>
              <a:gd name="adj" fmla="val 8241"/>
            </a:avLst>
          </a:prstGeom>
          <a:solidFill>
            <a:srgbClr val="F4D4F7"/>
          </a:solidFill>
          <a:ln w="6350">
            <a:solidFill>
              <a:srgbClr val="DABA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148" y="6467078"/>
            <a:ext cx="3353113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kern="0" spc="-18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Backend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04148" y="6643588"/>
            <a:ext cx="3353113" cy="119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kern="0" spc="-16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PHP POO + PDO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4313130" y="6361013"/>
            <a:ext cx="3565337" cy="508298"/>
          </a:xfrm>
          <a:prstGeom prst="roundRect">
            <a:avLst>
              <a:gd name="adj" fmla="val 8241"/>
            </a:avLst>
          </a:prstGeom>
          <a:solidFill>
            <a:srgbClr val="F4D4F7"/>
          </a:solidFill>
          <a:ln w="6350">
            <a:solidFill>
              <a:srgbClr val="DABA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19192" y="6467078"/>
            <a:ext cx="3353212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kern="0" spc="-18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Base de Datos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419192" y="6643588"/>
            <a:ext cx="3353212" cy="119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kern="0" spc="-16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MySQL / MariaDB InnoDB, UTF-8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7928273" y="6361013"/>
            <a:ext cx="3565337" cy="508298"/>
          </a:xfrm>
          <a:prstGeom prst="roundRect">
            <a:avLst>
              <a:gd name="adj" fmla="val 8241"/>
            </a:avLst>
          </a:prstGeom>
          <a:solidFill>
            <a:srgbClr val="F4D4F7"/>
          </a:solidFill>
          <a:ln w="6350">
            <a:solidFill>
              <a:srgbClr val="DABAD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34335" y="6467078"/>
            <a:ext cx="3353212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kern="0" spc="-18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Frontend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034335" y="6643588"/>
            <a:ext cx="3353212" cy="119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kern="0" spc="-16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HTML5, CSS3, JS Vanilla, Bootstrap 5.3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88665"/>
            <a:ext cx="10795524" cy="44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kern="0" spc="-55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Fases de Desarrollo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6086323" y="1253034"/>
            <a:ext cx="19050" cy="5016202"/>
          </a:xfrm>
          <a:prstGeom prst="roundRect">
            <a:avLst>
              <a:gd name="adj" fmla="val 49999"/>
            </a:avLst>
          </a:prstGeom>
          <a:solidFill>
            <a:srgbClr val="DABADD"/>
          </a:solidFill>
          <a:ln/>
        </p:spPr>
      </p:sp>
      <p:sp>
        <p:nvSpPr>
          <p:cNvPr id="4" name="Shape 2"/>
          <p:cNvSpPr/>
          <p:nvPr/>
        </p:nvSpPr>
        <p:spPr>
          <a:xfrm>
            <a:off x="5497871" y="1411784"/>
            <a:ext cx="448755" cy="19050"/>
          </a:xfrm>
          <a:prstGeom prst="roundRect">
            <a:avLst>
              <a:gd name="adj" fmla="val 49999"/>
            </a:avLst>
          </a:prstGeom>
          <a:solidFill>
            <a:srgbClr val="DABADD"/>
          </a:solidFill>
          <a:ln/>
        </p:spPr>
      </p:sp>
      <p:sp>
        <p:nvSpPr>
          <p:cNvPr id="5" name="Shape 3"/>
          <p:cNvSpPr/>
          <p:nvPr/>
        </p:nvSpPr>
        <p:spPr>
          <a:xfrm>
            <a:off x="5927577" y="1253034"/>
            <a:ext cx="336542" cy="336550"/>
          </a:xfrm>
          <a:prstGeom prst="roundRect">
            <a:avLst>
              <a:gd name="adj" fmla="val 18671"/>
            </a:avLst>
          </a:prstGeom>
          <a:solidFill>
            <a:srgbClr val="F4D4F7"/>
          </a:solidFill>
          <a:ln w="6350">
            <a:solidFill>
              <a:srgbClr val="DABA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90281" y="1289298"/>
            <a:ext cx="211132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33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1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98086" y="1304429"/>
            <a:ext cx="464977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Fase 1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98086" y="1591667"/>
            <a:ext cx="4649770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Diseño de BD relacional (3FN) con tablas e índices optimizados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5069" y="2234505"/>
            <a:ext cx="448755" cy="19050"/>
          </a:xfrm>
          <a:prstGeom prst="roundRect">
            <a:avLst>
              <a:gd name="adj" fmla="val 49999"/>
            </a:avLst>
          </a:prstGeom>
          <a:solidFill>
            <a:srgbClr val="DABADD"/>
          </a:solidFill>
          <a:ln/>
        </p:spPr>
      </p:sp>
      <p:sp>
        <p:nvSpPr>
          <p:cNvPr id="10" name="Shape 8"/>
          <p:cNvSpPr/>
          <p:nvPr/>
        </p:nvSpPr>
        <p:spPr>
          <a:xfrm>
            <a:off x="5927577" y="2075755"/>
            <a:ext cx="336542" cy="336550"/>
          </a:xfrm>
          <a:prstGeom prst="roundRect">
            <a:avLst>
              <a:gd name="adj" fmla="val 18671"/>
            </a:avLst>
          </a:prstGeom>
          <a:solidFill>
            <a:srgbClr val="F4D4F7"/>
          </a:solidFill>
          <a:ln w="6350">
            <a:solidFill>
              <a:srgbClr val="DABA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90281" y="2112020"/>
            <a:ext cx="211132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33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2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843839" y="2127151"/>
            <a:ext cx="464977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Fase 2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843839" y="2414389"/>
            <a:ext cx="4649770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Núcleo MVC y maquetado base con Sticky Footer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97871" y="2970808"/>
            <a:ext cx="448755" cy="19050"/>
          </a:xfrm>
          <a:prstGeom prst="roundRect">
            <a:avLst>
              <a:gd name="adj" fmla="val 49999"/>
            </a:avLst>
          </a:prstGeom>
          <a:solidFill>
            <a:srgbClr val="DABADD"/>
          </a:solidFill>
          <a:ln/>
        </p:spPr>
      </p:sp>
      <p:sp>
        <p:nvSpPr>
          <p:cNvPr id="15" name="Shape 13"/>
          <p:cNvSpPr/>
          <p:nvPr/>
        </p:nvSpPr>
        <p:spPr>
          <a:xfrm>
            <a:off x="5927577" y="2812058"/>
            <a:ext cx="336542" cy="336550"/>
          </a:xfrm>
          <a:prstGeom prst="roundRect">
            <a:avLst>
              <a:gd name="adj" fmla="val 18671"/>
            </a:avLst>
          </a:prstGeom>
          <a:solidFill>
            <a:srgbClr val="F4D4F7"/>
          </a:solidFill>
          <a:ln w="6350">
            <a:solidFill>
              <a:srgbClr val="DABA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90281" y="2848322"/>
            <a:ext cx="211132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33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3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98086" y="2863453"/>
            <a:ext cx="464977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Fase 3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98086" y="3150691"/>
            <a:ext cx="4649770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Autenticación, seguridad BCrypt y control de acceso por roles (RBAC)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45069" y="3707110"/>
            <a:ext cx="448755" cy="19050"/>
          </a:xfrm>
          <a:prstGeom prst="roundRect">
            <a:avLst>
              <a:gd name="adj" fmla="val 49999"/>
            </a:avLst>
          </a:prstGeom>
          <a:solidFill>
            <a:srgbClr val="DABADD"/>
          </a:solidFill>
          <a:ln/>
        </p:spPr>
      </p:sp>
      <p:sp>
        <p:nvSpPr>
          <p:cNvPr id="20" name="Shape 18"/>
          <p:cNvSpPr/>
          <p:nvPr/>
        </p:nvSpPr>
        <p:spPr>
          <a:xfrm>
            <a:off x="5927577" y="3548360"/>
            <a:ext cx="336542" cy="336550"/>
          </a:xfrm>
          <a:prstGeom prst="roundRect">
            <a:avLst>
              <a:gd name="adj" fmla="val 18671"/>
            </a:avLst>
          </a:prstGeom>
          <a:solidFill>
            <a:srgbClr val="F4D4F7"/>
          </a:solidFill>
          <a:ln w="6350">
            <a:solidFill>
              <a:srgbClr val="DABA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90281" y="3584625"/>
            <a:ext cx="211132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33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4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843839" y="3599755"/>
            <a:ext cx="464977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Fase 4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843839" y="3886994"/>
            <a:ext cx="4649770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Panel Admin y módulos CRUD de productos y categorías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97871" y="4443413"/>
            <a:ext cx="448755" cy="19050"/>
          </a:xfrm>
          <a:prstGeom prst="roundRect">
            <a:avLst>
              <a:gd name="adj" fmla="val 49999"/>
            </a:avLst>
          </a:prstGeom>
          <a:solidFill>
            <a:srgbClr val="DABADD"/>
          </a:solidFill>
          <a:ln/>
        </p:spPr>
      </p:sp>
      <p:sp>
        <p:nvSpPr>
          <p:cNvPr id="25" name="Shape 23"/>
          <p:cNvSpPr/>
          <p:nvPr/>
        </p:nvSpPr>
        <p:spPr>
          <a:xfrm>
            <a:off x="5927577" y="4284663"/>
            <a:ext cx="336542" cy="336550"/>
          </a:xfrm>
          <a:prstGeom prst="roundRect">
            <a:avLst>
              <a:gd name="adj" fmla="val 18671"/>
            </a:avLst>
          </a:prstGeom>
          <a:solidFill>
            <a:srgbClr val="F4D4F7"/>
          </a:solidFill>
          <a:ln w="6350">
            <a:solidFill>
              <a:srgbClr val="DABA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0281" y="4320927"/>
            <a:ext cx="211132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33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5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98086" y="4336058"/>
            <a:ext cx="464977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Fase 5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98086" y="4623296"/>
            <a:ext cx="4649770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Catálogo público, carrito interactivo y simulación de pagos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45069" y="5179715"/>
            <a:ext cx="448755" cy="19050"/>
          </a:xfrm>
          <a:prstGeom prst="roundRect">
            <a:avLst>
              <a:gd name="adj" fmla="val 49999"/>
            </a:avLst>
          </a:prstGeom>
          <a:solidFill>
            <a:srgbClr val="DABADD"/>
          </a:solidFill>
          <a:ln/>
        </p:spPr>
      </p:sp>
      <p:sp>
        <p:nvSpPr>
          <p:cNvPr id="30" name="Shape 28"/>
          <p:cNvSpPr/>
          <p:nvPr/>
        </p:nvSpPr>
        <p:spPr>
          <a:xfrm>
            <a:off x="5927577" y="5020965"/>
            <a:ext cx="336542" cy="336550"/>
          </a:xfrm>
          <a:prstGeom prst="roundRect">
            <a:avLst>
              <a:gd name="adj" fmla="val 18671"/>
            </a:avLst>
          </a:prstGeom>
          <a:solidFill>
            <a:srgbClr val="F4D4F7"/>
          </a:solidFill>
          <a:ln w="6350">
            <a:solidFill>
              <a:srgbClr val="DABA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90281" y="5057229"/>
            <a:ext cx="211132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33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6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6843839" y="5072360"/>
            <a:ext cx="464977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Fase 6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843839" y="5359598"/>
            <a:ext cx="4649770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Módulo de analítica mensual y personalización de paleta cosmética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76163"/>
            <a:ext cx="10795524" cy="476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kern="0" spc="-60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Modelo de Datos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98086" y="1382018"/>
            <a:ext cx="3521483" cy="4766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0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Estructura Relacional Normalizada (3FN)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98086" y="2006798"/>
            <a:ext cx="3521483" cy="967184"/>
          </a:xfrm>
          <a:prstGeom prst="roundRect">
            <a:avLst>
              <a:gd name="adj" fmla="val 7038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ABA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9155" y="2187873"/>
            <a:ext cx="3159344" cy="2383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roles / usuarios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9155" y="2557859"/>
            <a:ext cx="3159344" cy="23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50" kern="0" spc="-26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Control de identidades: Administrador y Cliente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98086" y="3105646"/>
            <a:ext cx="3521483" cy="967184"/>
          </a:xfrm>
          <a:prstGeom prst="roundRect">
            <a:avLst>
              <a:gd name="adj" fmla="val 7038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ABA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9155" y="3286720"/>
            <a:ext cx="3159344" cy="2383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categorias / productos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79155" y="3656707"/>
            <a:ext cx="3159344" cy="23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50" kern="0" spc="-26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Catalogación con precios, estado e inventario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98086" y="4204494"/>
            <a:ext cx="3521483" cy="1202234"/>
          </a:xfrm>
          <a:prstGeom prst="roundRect">
            <a:avLst>
              <a:gd name="adj" fmla="val 5662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ABA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9155" y="4385568"/>
            <a:ext cx="3159344" cy="2383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pedidos / detalle_pedidos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9155" y="4755555"/>
            <a:ext cx="3159344" cy="4700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50" kern="0" spc="-26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Trazabilidad financiera con precios congelados por transacción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98086" y="5702995"/>
            <a:ext cx="10795524" cy="578842"/>
          </a:xfrm>
          <a:prstGeom prst="roundRect">
            <a:avLst>
              <a:gd name="adj" fmla="val 11760"/>
            </a:avLst>
          </a:prstGeom>
          <a:solidFill>
            <a:srgbClr val="F4D4F7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106" y="5892105"/>
            <a:ext cx="202500" cy="1620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224626" y="5875139"/>
            <a:ext cx="10716548" cy="24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50" b="1" kern="0" spc="-26" dirty="0">
                <a:solidFill>
                  <a:srgbClr val="000000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Seguridad:</a:t>
            </a:r>
            <a:r>
              <a:rPr lang="en-US" sz="1250" kern="0" spc="-26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Sentencias preparadas PDO (prevención de inyección SQL) + transacciones BD (</a:t>
            </a:r>
            <a:r>
              <a:rPr lang="en-US" sz="1250" kern="0" spc="-26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beginTransaction</a:t>
            </a:r>
            <a:r>
              <a:rPr lang="en-US" sz="1250" kern="0" spc="-26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250" kern="0" spc="-26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commit</a:t>
            </a:r>
            <a:r>
              <a:rPr lang="en-US" sz="1250" kern="0" spc="-26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250" kern="0" spc="-26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rollBack</a:t>
            </a:r>
            <a:r>
              <a:rPr lang="en-US" sz="1250" kern="0" spc="-26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) para compras seguras.</a:t>
            </a:r>
            <a:endParaRPr lang="en-US" sz="125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47EB4482-793D-4123-80D6-63B7D3F66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6250" y="1973415"/>
            <a:ext cx="6681120" cy="19183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269971" y="557609"/>
            <a:ext cx="6223638" cy="1044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kern="0" spc="-66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Experiencia de Usuario y Catálogo Público</a:t>
            </a:r>
            <a:endParaRPr lang="en-US" sz="32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69971" y="1839913"/>
            <a:ext cx="355293" cy="35530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269971" y="2392958"/>
            <a:ext cx="6223638" cy="261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kern="0" spc="-33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Identidad Visual Unificada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5269971" y="2749054"/>
            <a:ext cx="6223638" cy="281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Paleta en tonos rosa pastel, rosa viejo (</a:t>
            </a:r>
            <a:r>
              <a:rPr lang="en-US" sz="1350" kern="0" spc="-28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#d48b97</a:t>
            </a:r>
            <a:r>
              <a:rPr lang="en-US" sz="1350" kern="0" spc="-28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) y nude, adaptada al sector beauty.</a:t>
            </a:r>
            <a:endParaRPr lang="en-US" sz="13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69971" y="3346847"/>
            <a:ext cx="355293" cy="35530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269971" y="3899892"/>
            <a:ext cx="6223638" cy="261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kern="0" spc="-33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Optimización de Imágenes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5269971" y="4255988"/>
            <a:ext cx="6223638" cy="281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CSS </a:t>
            </a:r>
            <a:r>
              <a:rPr lang="en-US" sz="1350" kern="0" spc="-28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object-fit: contain</a:t>
            </a:r>
            <a:r>
              <a:rPr lang="en-US" sz="1350" kern="0" spc="-28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visualizar empaques y frascos completos sin recortes.</a:t>
            </a:r>
            <a:endParaRPr lang="en-US" sz="13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69971" y="4853781"/>
            <a:ext cx="355293" cy="35530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269971" y="5406827"/>
            <a:ext cx="6223638" cy="261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kern="0" spc="-33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Destacados Dinámicos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5269971" y="5762923"/>
            <a:ext cx="6223638" cy="537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Muestra automática de los productos más recientes directamente desde la base de datos.</a:t>
            </a:r>
            <a:endParaRPr lang="en-US" sz="1350" dirty="0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EC702091-7C35-47DF-855B-5FF81ADCDF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155" y="1651521"/>
            <a:ext cx="4441342" cy="37553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85391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kern="0" spc="-65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Carrito, Checkout y Proceso de Pago</a:t>
            </a:r>
            <a:endParaRPr lang="en-US" sz="3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1854101"/>
            <a:ext cx="6868048" cy="389195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98319" y="1480344"/>
            <a:ext cx="3501640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kern="0" spc="-32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Funcionalidades del Módulo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3802" y="1914227"/>
            <a:ext cx="261733" cy="26173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565539" y="1908770"/>
            <a:ext cx="2934420" cy="5133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kern="0" spc="-32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Control Dinámico de Cantidades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8565539" y="2574826"/>
            <a:ext cx="2934420" cy="536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kern="0" spc="-27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Ajuste en tiempo real con botones </a:t>
            </a:r>
            <a:r>
              <a:rPr lang="en-US" sz="135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+/-</a:t>
            </a:r>
            <a:r>
              <a:rPr lang="en-US" sz="1350" kern="0" spc="-27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respetando límites de inventario</a:t>
            </a:r>
            <a:endParaRPr lang="en-US" sz="13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3802" y="3421856"/>
            <a:ext cx="261733" cy="26173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65539" y="3416399"/>
            <a:ext cx="2934420" cy="5133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kern="0" spc="-32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Checkout y Simulación de Pago</a:t>
            </a:r>
            <a:endParaRPr lang="en-US" sz="1600" dirty="0"/>
          </a:p>
        </p:txBody>
      </p:sp>
      <p:sp>
        <p:nvSpPr>
          <p:cNvPr id="10" name="Text 5"/>
          <p:cNvSpPr/>
          <p:nvPr/>
        </p:nvSpPr>
        <p:spPr>
          <a:xfrm>
            <a:off x="8565539" y="4082455"/>
            <a:ext cx="2934420" cy="5234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kern="0" spc="-27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Formulario con selección de métodos: Tarjeta, PSE y Efectivo</a:t>
            </a:r>
            <a:endParaRPr lang="en-US" sz="13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3802" y="4916785"/>
            <a:ext cx="261733" cy="261739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565539" y="4911328"/>
            <a:ext cx="2934420" cy="5133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kern="0" spc="-32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Actualización Atómica de Stock</a:t>
            </a:r>
            <a:endParaRPr lang="en-US" sz="1600" dirty="0"/>
          </a:p>
        </p:txBody>
      </p:sp>
      <p:sp>
        <p:nvSpPr>
          <p:cNvPr id="13" name="Text 7"/>
          <p:cNvSpPr/>
          <p:nvPr/>
        </p:nvSpPr>
        <p:spPr>
          <a:xfrm>
            <a:off x="8565539" y="5577384"/>
            <a:ext cx="2934420" cy="5234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kern="0" spc="-27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Descuento inmediato en MySQL al finalizar la orden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98086" y="577155"/>
            <a:ext cx="6223638" cy="10999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kern="0" spc="-69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Panel de Administración (CRUD)</a:t>
            </a:r>
            <a:endParaRPr lang="en-US" sz="3450" dirty="0"/>
          </a:p>
        </p:txBody>
      </p:sp>
      <p:sp>
        <p:nvSpPr>
          <p:cNvPr id="4" name="Shape 1"/>
          <p:cNvSpPr/>
          <p:nvPr/>
        </p:nvSpPr>
        <p:spPr>
          <a:xfrm>
            <a:off x="698086" y="1940024"/>
            <a:ext cx="3024112" cy="2372519"/>
          </a:xfrm>
          <a:prstGeom prst="roundRect">
            <a:avLst>
              <a:gd name="adj" fmla="val 3311"/>
            </a:avLst>
          </a:prstGeom>
          <a:solidFill>
            <a:srgbClr val="F4D4F7"/>
          </a:solidFill>
          <a:ln w="6350">
            <a:solidFill>
              <a:srgbClr val="DABAD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91359" y="2133302"/>
            <a:ext cx="560969" cy="560983"/>
          </a:xfrm>
          <a:prstGeom prst="ellipse">
            <a:avLst/>
          </a:prstGeom>
          <a:solidFill>
            <a:srgbClr val="AF41F0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5640" y="2287588"/>
            <a:ext cx="252406" cy="25241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91359" y="2869605"/>
            <a:ext cx="2637565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kern="0" spc="-35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AuthGuard Middleware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891359" y="3249811"/>
            <a:ext cx="2637565" cy="8694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kern="0" spc="-29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Acceso restringido exclusivamente a usuarios con Rol 1 (Administrador)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3897513" y="1940024"/>
            <a:ext cx="3024211" cy="2372519"/>
          </a:xfrm>
          <a:prstGeom prst="roundRect">
            <a:avLst>
              <a:gd name="adj" fmla="val 3311"/>
            </a:avLst>
          </a:prstGeom>
          <a:solidFill>
            <a:srgbClr val="F4D4F7"/>
          </a:solidFill>
          <a:ln w="6350">
            <a:solidFill>
              <a:srgbClr val="DABAD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090786" y="2133302"/>
            <a:ext cx="560969" cy="560983"/>
          </a:xfrm>
          <a:prstGeom prst="ellipse">
            <a:avLst/>
          </a:prstGeom>
          <a:solidFill>
            <a:srgbClr val="AF41F0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45067" y="2287588"/>
            <a:ext cx="252406" cy="25241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090786" y="2869605"/>
            <a:ext cx="2637664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kern="0" spc="-35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CRUD Completo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4090786" y="3249811"/>
            <a:ext cx="2637664" cy="8694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kern="0" spc="-29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Creación, edición, activación/desactivación y carga de imágenes de productos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98086" y="4487863"/>
            <a:ext cx="6223638" cy="1792883"/>
          </a:xfrm>
          <a:prstGeom prst="roundRect">
            <a:avLst>
              <a:gd name="adj" fmla="val 4381"/>
            </a:avLst>
          </a:prstGeom>
          <a:solidFill>
            <a:srgbClr val="F4D4F7"/>
          </a:solidFill>
          <a:ln w="6350">
            <a:solidFill>
              <a:srgbClr val="DABAD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891359" y="4681141"/>
            <a:ext cx="560969" cy="560983"/>
          </a:xfrm>
          <a:prstGeom prst="ellipse">
            <a:avLst/>
          </a:prstGeom>
          <a:solidFill>
            <a:srgbClr val="AF41F0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45640" y="4835426"/>
            <a:ext cx="252406" cy="25241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91359" y="5417443"/>
            <a:ext cx="5837091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kern="0" spc="-35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Monitoreo de Stock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891359" y="5797649"/>
            <a:ext cx="5837091" cy="2898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kern="0" spc="-29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Badges indicadores de disponibilidad con actualización instantánea</a:t>
            </a:r>
            <a:endParaRPr lang="en-US" sz="145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2889B331-AA67-4C78-804E-692BC9F70FF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76005" y="2287588"/>
            <a:ext cx="4834076" cy="32981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48680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kern="0" spc="-65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Analítica Mensual y KPIs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7998319" y="1443633"/>
            <a:ext cx="3501640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kern="0" spc="-32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Métricas de Negocio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98319" y="1872059"/>
            <a:ext cx="3501640" cy="132000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32371" y="2401193"/>
            <a:ext cx="261733" cy="261739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8868148" y="2065635"/>
            <a:ext cx="2438240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kern="0" spc="-32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Indicadores Financieros</a:t>
            </a:r>
            <a:endParaRPr lang="en-US" sz="1600" dirty="0"/>
          </a:p>
        </p:txBody>
      </p:sp>
      <p:sp>
        <p:nvSpPr>
          <p:cNvPr id="8" name="Text 3"/>
          <p:cNvSpPr/>
          <p:nvPr/>
        </p:nvSpPr>
        <p:spPr>
          <a:xfrm>
            <a:off x="8868148" y="2475012"/>
            <a:ext cx="2438240" cy="5234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kern="0" spc="-27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Ingresos totales, pedidos completados y ticket promedio</a:t>
            </a:r>
            <a:endParaRPr lang="en-US" sz="13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98319" y="3344763"/>
            <a:ext cx="3501640" cy="1320006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32371" y="3873897"/>
            <a:ext cx="261733" cy="261739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8868148" y="3538339"/>
            <a:ext cx="2438240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kern="0" spc="-32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Desglose de Ventas</a:t>
            </a:r>
            <a:endParaRPr lang="en-US" sz="1600" dirty="0"/>
          </a:p>
        </p:txBody>
      </p:sp>
      <p:sp>
        <p:nvSpPr>
          <p:cNvPr id="12" name="Text 5"/>
          <p:cNvSpPr/>
          <p:nvPr/>
        </p:nvSpPr>
        <p:spPr>
          <a:xfrm>
            <a:off x="8868148" y="3947716"/>
            <a:ext cx="2438240" cy="5234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kern="0" spc="-27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Top de productos más vendidos y rendimiento por categoría</a:t>
            </a:r>
            <a:endParaRPr lang="en-US" sz="135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98319" y="4817467"/>
            <a:ext cx="3501640" cy="1320006"/>
          </a:xfrm>
          <a:prstGeom prst="rect">
            <a:avLst/>
          </a:prstGeom>
        </p:spPr>
      </p:pic>
      <p:pic>
        <p:nvPicPr>
          <p:cNvPr id="14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32371" y="5346601"/>
            <a:ext cx="261733" cy="261739"/>
          </a:xfrm>
          <a:prstGeom prst="rect">
            <a:avLst/>
          </a:prstGeom>
        </p:spPr>
      </p:pic>
      <p:sp>
        <p:nvSpPr>
          <p:cNvPr id="15" name="Text 6"/>
          <p:cNvSpPr/>
          <p:nvPr/>
        </p:nvSpPr>
        <p:spPr>
          <a:xfrm>
            <a:off x="8868148" y="5011043"/>
            <a:ext cx="2438240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kern="0" spc="-32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Filtros Temporales</a:t>
            </a:r>
            <a:endParaRPr lang="en-US" sz="1600" dirty="0"/>
          </a:p>
        </p:txBody>
      </p:sp>
      <p:sp>
        <p:nvSpPr>
          <p:cNvPr id="16" name="Text 7"/>
          <p:cNvSpPr/>
          <p:nvPr/>
        </p:nvSpPr>
        <p:spPr>
          <a:xfrm>
            <a:off x="8868148" y="5420420"/>
            <a:ext cx="2438240" cy="5234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kern="0" spc="-27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Consulta histórica por mes y año para decisiones estratégicas</a:t>
            </a:r>
            <a:endParaRPr lang="en-US" sz="135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4ED4F1BB-6B14-4211-A0CE-5F120AE9EEC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829" y="2065635"/>
            <a:ext cx="7156575" cy="35002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69971" y="610096"/>
            <a:ext cx="6223638" cy="5591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kern="0" spc="-70" dirty="0">
                <a:solidFill>
                  <a:srgbClr val="D73AD7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Conclusiones</a:t>
            </a:r>
            <a:endParaRPr lang="en-US" sz="3500" dirty="0"/>
          </a:p>
        </p:txBody>
      </p:sp>
      <p:sp>
        <p:nvSpPr>
          <p:cNvPr id="4" name="Text 1"/>
          <p:cNvSpPr/>
          <p:nvPr/>
        </p:nvSpPr>
        <p:spPr>
          <a:xfrm>
            <a:off x="5878862" y="1506339"/>
            <a:ext cx="5614748" cy="2794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0" spc="-35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Sistema robusto y modular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5878862" y="1894483"/>
            <a:ext cx="5614748" cy="5939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E-commerce 100% funcional, ligero y sin dependencias externas complejas.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878862" y="2916039"/>
            <a:ext cx="5614748" cy="2794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0" spc="-35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Integridad garantizada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5878862" y="3304183"/>
            <a:ext cx="5614748" cy="296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Manejo estricto de transacciones de base de datos para compras seguras.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878862" y="4028777"/>
            <a:ext cx="5614748" cy="2794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0" spc="-35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Desarrollo por fases cumplido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5878862" y="4416921"/>
            <a:ext cx="5614748" cy="296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Adaptabilidad total del diseño para el cliente final del sector cosmético.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269971" y="4917678"/>
            <a:ext cx="6223638" cy="1330127"/>
          </a:xfrm>
          <a:prstGeom prst="roundRect">
            <a:avLst>
              <a:gd name="adj" fmla="val 6003"/>
            </a:avLst>
          </a:prstGeom>
          <a:solidFill>
            <a:srgbClr val="B6FCB8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0070" y="5176838"/>
            <a:ext cx="237623" cy="1901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887791" y="5146377"/>
            <a:ext cx="5415720" cy="890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kern="0" spc="-30" dirty="0">
                <a:solidFill>
                  <a:srgbClr val="000000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BeautyShop Online</a:t>
            </a:r>
            <a:r>
              <a:rPr lang="en-US" sz="1450" kern="0" spc="-3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es una solución tecnológica integral, responsiva, segura y escalable para la gestión de productos, inventario en tiempo real, pedidos y analítica de ventas.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587</Words>
  <Application>Microsoft Office PowerPoint</Application>
  <PresentationFormat>Panorámica</PresentationFormat>
  <Paragraphs>100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Source Serif 4 SemiBold</vt:lpstr>
      <vt:lpstr>Arial</vt:lpstr>
      <vt:lpstr>Calibri</vt:lpstr>
      <vt:lpstr>Source Sans 3</vt:lpstr>
      <vt:lpstr>Consolas</vt:lpstr>
      <vt:lpstr>Source Sans 3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lastModifiedBy>USUARIO</cp:lastModifiedBy>
  <cp:revision>2</cp:revision>
  <dcterms:created xsi:type="dcterms:W3CDTF">2026-08-31T12:31:41Z</dcterms:created>
  <dcterms:modified xsi:type="dcterms:W3CDTF">2026-08-31T12:38:21Z</dcterms:modified>
</cp:coreProperties>
</file>